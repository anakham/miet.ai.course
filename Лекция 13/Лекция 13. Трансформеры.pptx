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2"/>
  </p:normalViewPr>
  <p:slideViewPr>
    <p:cSldViewPr snapToGrid="0">
      <p:cViewPr varScale="1">
        <p:scale>
          <a:sx n="118" d="100"/>
          <a:sy n="118" d="100"/>
        </p:scale>
        <p:origin x="9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4B63A-C0E1-B443-B2DF-0031188ABF5A}" type="datetimeFigureOut">
              <a:rPr lang="en-RU" smtClean="0"/>
              <a:t>03.12.2025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942D0-A914-3C42-B95F-5A99FE318701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73425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D942D0-A914-3C42-B95F-5A99FE318701}" type="slidenum">
              <a:rPr lang="en-RU" smtClean="0"/>
              <a:t>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11827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D213-7268-97F5-B215-DCA867AF5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3E0B1-4F9C-6F13-6FC2-D87DEA47CC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F23AF-4AE7-239A-428A-024F0F7F8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605F-EBA0-9148-9BE7-05DD50CE15E5}" type="datetimeFigureOut">
              <a:rPr lang="en-RU" smtClean="0"/>
              <a:t>03.12.2025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4F2A0-FEDD-BFCA-1B37-9A0EC5F10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C78BC-1D4A-8A28-B3C8-2F0617BE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3EB8-F08B-8747-9B17-086197513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51950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83C77-C8D7-02E0-EDD2-7453A3CF9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B6004-77E7-351D-AA8C-6B4E284D4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64379-C926-4F24-1B4C-9E15911CF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605F-EBA0-9148-9BE7-05DD50CE15E5}" type="datetimeFigureOut">
              <a:rPr lang="en-RU" smtClean="0"/>
              <a:t>03.12.2025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2921F-1FB7-F0A6-6843-67C9B4AC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D5D13-735F-6B93-B6F9-9CECAD61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3EB8-F08B-8747-9B17-086197513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63784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9BCF-2DF6-B1D8-F826-8582F51F1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D3248-018C-FA48-B20C-1B181C173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CA971-74D4-8DC6-E33A-084D134FA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605F-EBA0-9148-9BE7-05DD50CE15E5}" type="datetimeFigureOut">
              <a:rPr lang="en-RU" smtClean="0"/>
              <a:t>03.12.2025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397EE-94E4-7EC5-ACD0-239F70F5B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F0185-19A5-54CE-F86A-2B94647DB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3EB8-F08B-8747-9B17-086197513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34258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EBFB-D935-50CC-F5A7-6865D1BA8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2EA49-9170-D7A4-5B3F-4CB667D19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87DFC-E447-115D-BBD4-C7973E97C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AC8EE4-841A-D4D5-800F-0EBFC1A50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605F-EBA0-9148-9BE7-05DD50CE15E5}" type="datetimeFigureOut">
              <a:rPr lang="en-RU" smtClean="0"/>
              <a:t>03.12.2025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7D284-6C64-FEFF-500D-F9429A91D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072A9-F6D3-AD7E-9075-0E1B48AE2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3EB8-F08B-8747-9B17-086197513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4503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03A46-1C8F-B5DD-7849-2A83B32D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6F4EA-DD67-485A-5E84-6647AF88A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11DDF-A6FF-601A-32CF-E6BA8977E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EE6B36-6EAA-A134-4975-0EA285776D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929276-235C-600E-626D-7409EA4548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F8E42B-0F2C-AEFF-C1D7-7AAB43E83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605F-EBA0-9148-9BE7-05DD50CE15E5}" type="datetimeFigureOut">
              <a:rPr lang="en-RU" smtClean="0"/>
              <a:t>03.12.2025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ADD7C1-24DC-BB19-897C-1CDE9CF2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46A66-D4BE-852B-A3BE-6B648838F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3EB8-F08B-8747-9B17-086197513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46246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55960-D3BF-FFCB-3F53-B0E49B98B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E4E521-034D-F872-0797-4470237E7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605F-EBA0-9148-9BE7-05DD50CE15E5}" type="datetimeFigureOut">
              <a:rPr lang="en-RU" smtClean="0"/>
              <a:t>03.12.2025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F1C7F3-3207-6C69-D55F-DF39D0C24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253B0-B09F-EBB3-2B7F-0A13BAC5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3EB8-F08B-8747-9B17-086197513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74567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F09900-C043-AEA7-1119-069E2118A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605F-EBA0-9148-9BE7-05DD50CE15E5}" type="datetimeFigureOut">
              <a:rPr lang="en-RU" smtClean="0"/>
              <a:t>03.12.2025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2568E8-A0AB-512A-D0E6-D7D7B9818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F5685-B0C7-36E1-A0CE-14E3D16F6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3EB8-F08B-8747-9B17-086197513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506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E7AE0-9E15-464F-874C-FBF5CAE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E37BB-374A-1205-3904-61538494E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94B605-6D6D-D78B-D0EA-07240E4EA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CD6BD-4143-7D80-6080-E5F63B754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605F-EBA0-9148-9BE7-05DD50CE15E5}" type="datetimeFigureOut">
              <a:rPr lang="en-RU" smtClean="0"/>
              <a:t>03.12.2025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C3EC1-9C32-6C21-EAA1-47662FBE8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15E0A-114A-6E57-BEED-B7726E974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3EB8-F08B-8747-9B17-086197513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94556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CDB11-63C5-9EFA-FE8B-5146003D3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86A2C3-B7AF-9D47-B36D-78836095B0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414A30-BB53-D3AD-BB47-BA8E9443C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9CF5A-1E11-1F7A-936C-0D9D0C0B0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605F-EBA0-9148-9BE7-05DD50CE15E5}" type="datetimeFigureOut">
              <a:rPr lang="en-RU" smtClean="0"/>
              <a:t>03.12.2025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3A130-865E-8ECE-ABA7-E653C41A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6164C-3BB4-8923-8B16-7D816DBBE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3EB8-F08B-8747-9B17-086197513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5178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864BE-95B1-DA9A-38CA-A44F7119E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7EAA8B-96A4-6060-F9F7-95B420142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8FE4A-EC5B-75B1-0E92-D1E80C496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605F-EBA0-9148-9BE7-05DD50CE15E5}" type="datetimeFigureOut">
              <a:rPr lang="en-RU" smtClean="0"/>
              <a:t>03.12.2025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18650-070B-4E1B-4C7E-38F92FC06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24D49-4025-FEEF-4D7C-B7DBC707E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3EB8-F08B-8747-9B17-086197513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6524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592058-1CB6-7A87-99E9-6E325413C0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D6007-5E3D-AFB6-F13D-D2E23F922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EB82B-A4FE-2F25-A702-C309415F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C605F-EBA0-9148-9BE7-05DD50CE15E5}" type="datetimeFigureOut">
              <a:rPr lang="en-RU" smtClean="0"/>
              <a:t>03.12.2025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25F08-5EC9-D391-FC83-B1841EAA8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849B4-E120-F521-1C36-D81F96DB1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A3EB8-F08B-8747-9B17-086197513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16124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11D152-A3BF-CE10-CA48-4D5CC3259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F2BA3-B508-E055-C580-07C01CAD6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F5E1-0BBC-D8A3-929E-F0D1A2A86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C605F-EBA0-9148-9BE7-05DD50CE15E5}" type="datetimeFigureOut">
              <a:rPr lang="en-RU" smtClean="0"/>
              <a:t>03.12.2025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F8BCC-47BD-8202-CDD3-C1AB5EC12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1ED7F-A7F6-6260-04B0-521EE4C0F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A3EB8-F08B-8747-9B17-086197513E7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67412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neurips.cc/paper/2017/file/3f5ee243547dee91fbd053c1c4a845aa-Paper.pdf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hyperlink" Target="https://en.wikipedia.org/wiki/BLEU" TargetMode="External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bibbase.org/service/mendeley/bfbbf840-4c42-3914-a463-19024f50b30c/file/4de167e7-3087-5745-0375-4a73f60777b2/full_text.pdf.pdf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ccess.thecvf.com/content/ICCV2021/papers/Yuan_Tokens-to-Token_ViT_Training_Vision_Transformers_From_Scratch_on_ImageNet_ICCV_2021_paper.pdf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B736D-2694-0D0D-B8B7-C2634C5A46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endParaRPr lang="en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9391AB-A0BC-AA22-306C-5AF491B5E9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Обработка естественных языков, большие языковые модели, применение в обработке изображений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366206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931A8-9E64-847D-2D4F-54AE76341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</a:t>
            </a:r>
            <a:r>
              <a:rPr lang="en-US" dirty="0"/>
              <a:t>NLP (natural language processing)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44877-800D-A2C1-6982-1B6AEAEC8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Классифицировать категорию входного текста (например, по эмоциональной окраске: нейтральный, резкий, доброжелательный)</a:t>
            </a:r>
          </a:p>
          <a:p>
            <a:r>
              <a:rPr lang="ru-RU" dirty="0"/>
              <a:t>Сформировать ответ на запрос во входном тексте</a:t>
            </a:r>
          </a:p>
          <a:p>
            <a:r>
              <a:rPr lang="ru-RU" dirty="0"/>
              <a:t>Сделать краткую аннотацию входного текста («</a:t>
            </a:r>
            <a:r>
              <a:rPr lang="ru-RU" dirty="0" err="1"/>
              <a:t>суммаризация</a:t>
            </a:r>
            <a:r>
              <a:rPr lang="ru-RU" dirty="0"/>
              <a:t>» - англицизм)</a:t>
            </a:r>
            <a:endParaRPr lang="en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374ECF-DED5-7CD3-F1AC-B98329CA6AA4}"/>
              </a:ext>
            </a:extLst>
          </p:cNvPr>
          <p:cNvSpPr txBox="1"/>
          <p:nvPr/>
        </p:nvSpPr>
        <p:spPr>
          <a:xfrm>
            <a:off x="3825892" y="4078271"/>
            <a:ext cx="6418219" cy="957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Гай Юлий Цезарь в августе 47 года до н.э. уведомил своего друга Гая </a:t>
            </a:r>
            <a:r>
              <a:rPr lang="ru-RU" dirty="0" err="1"/>
              <a:t>Мация</a:t>
            </a:r>
            <a:r>
              <a:rPr lang="ru-RU" dirty="0"/>
              <a:t> в Риме о победе, быстро одержанной им при Зеле над </a:t>
            </a:r>
            <a:r>
              <a:rPr lang="ru-RU" dirty="0" err="1"/>
              <a:t>Фарнаком</a:t>
            </a:r>
            <a:r>
              <a:rPr lang="ru-RU" dirty="0"/>
              <a:t>, сыном Митридата Понтийского.</a:t>
            </a:r>
            <a:endParaRPr lang="en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B0FA78-F9E6-2902-E99A-3F5A54F5407B}"/>
              </a:ext>
            </a:extLst>
          </p:cNvPr>
          <p:cNvSpPr txBox="1"/>
          <p:nvPr/>
        </p:nvSpPr>
        <p:spPr>
          <a:xfrm>
            <a:off x="6465896" y="6124072"/>
            <a:ext cx="113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Победил.</a:t>
            </a:r>
            <a:endParaRPr lang="en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ABDFC3-9785-562A-7186-81A1C4C05E27}"/>
              </a:ext>
            </a:extLst>
          </p:cNvPr>
          <p:cNvSpPr txBox="1"/>
          <p:nvPr/>
        </p:nvSpPr>
        <p:spPr>
          <a:xfrm>
            <a:off x="5507736" y="5352656"/>
            <a:ext cx="3054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«Пришёл, увидел, победил.»</a:t>
            </a:r>
            <a:endParaRPr lang="en-RU" dirty="0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A5B9F36A-FC24-4E4F-1E15-5948E0632541}"/>
              </a:ext>
            </a:extLst>
          </p:cNvPr>
          <p:cNvSpPr/>
          <p:nvPr/>
        </p:nvSpPr>
        <p:spPr>
          <a:xfrm>
            <a:off x="6792686" y="5116286"/>
            <a:ext cx="484632" cy="255133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E06B087E-FE4D-806A-404B-1EFE39F3CC23}"/>
              </a:ext>
            </a:extLst>
          </p:cNvPr>
          <p:cNvSpPr/>
          <p:nvPr/>
        </p:nvSpPr>
        <p:spPr>
          <a:xfrm>
            <a:off x="6792686" y="5792455"/>
            <a:ext cx="484632" cy="255133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648222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64593-51EE-89A1-E788-38F5A96D2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Цифровое представление текстов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87922-858D-4220-97A3-50C4B35F2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 err="1"/>
              <a:t>Токенизация</a:t>
            </a:r>
            <a:endParaRPr lang="ru-RU" dirty="0"/>
          </a:p>
          <a:p>
            <a:pPr lvl="1"/>
            <a:r>
              <a:rPr lang="en-US" dirty="0"/>
              <a:t>Let the force be with you </a:t>
            </a:r>
            <a:r>
              <a:rPr lang="ru-RU" dirty="0"/>
              <a:t>–</a:t>
            </a:r>
            <a:r>
              <a:rPr lang="en-US" dirty="0"/>
              <a:t>&gt; let, force, be, you</a:t>
            </a:r>
          </a:p>
          <a:p>
            <a:pPr lvl="1"/>
            <a:r>
              <a:rPr lang="ru-RU" dirty="0"/>
              <a:t>Да пребудет с тобой сила –</a:t>
            </a:r>
            <a:r>
              <a:rPr lang="en-US" dirty="0"/>
              <a:t>&gt; </a:t>
            </a:r>
            <a:r>
              <a:rPr lang="ru-RU" dirty="0"/>
              <a:t>Да, пре, </a:t>
            </a:r>
            <a:r>
              <a:rPr lang="ru-RU" dirty="0" err="1"/>
              <a:t>буд</a:t>
            </a:r>
            <a:r>
              <a:rPr lang="ru-RU" dirty="0"/>
              <a:t>, </a:t>
            </a:r>
            <a:r>
              <a:rPr lang="ru-RU" dirty="0" err="1"/>
              <a:t>ет</a:t>
            </a:r>
            <a:r>
              <a:rPr lang="ru-RU" dirty="0"/>
              <a:t>, </a:t>
            </a:r>
            <a:r>
              <a:rPr lang="ru-RU" dirty="0" err="1"/>
              <a:t>тоб</a:t>
            </a:r>
            <a:r>
              <a:rPr lang="ru-RU" dirty="0"/>
              <a:t>, ой, сил, а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N-</a:t>
            </a:r>
            <a:r>
              <a:rPr lang="ru-RU" dirty="0"/>
              <a:t>граммы</a:t>
            </a:r>
          </a:p>
          <a:p>
            <a:pPr lvl="1"/>
            <a:r>
              <a:rPr lang="ru-RU" dirty="0"/>
              <a:t>2-граммы: </a:t>
            </a:r>
            <a:r>
              <a:rPr lang="en-US" dirty="0"/>
              <a:t>let, force, be, you, (let, force), (force, be), (be, you)</a:t>
            </a:r>
          </a:p>
          <a:p>
            <a:pPr lvl="1"/>
            <a:r>
              <a:rPr lang="en-US" dirty="0"/>
              <a:t>3-</a:t>
            </a:r>
            <a:r>
              <a:rPr lang="ru-RU" dirty="0"/>
              <a:t>граммы</a:t>
            </a:r>
            <a:r>
              <a:rPr lang="en-US" dirty="0"/>
              <a:t>: 2-</a:t>
            </a:r>
            <a:r>
              <a:rPr lang="ru-RU" dirty="0"/>
              <a:t>граммы + </a:t>
            </a:r>
            <a:r>
              <a:rPr lang="en-US" dirty="0"/>
              <a:t>(let, force, be), (force, be, you)</a:t>
            </a:r>
          </a:p>
          <a:p>
            <a:pPr lvl="1"/>
            <a:r>
              <a:rPr lang="ru-RU" dirty="0"/>
              <a:t>И т.д.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475791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28825-8FA3-5171-6DFC-6E9CC8F21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Векторизация представления в виде токенов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FF9AC-11E9-31DC-7F53-8E268F9BC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Частота терминов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  <a:p>
            <a:r>
              <a:rPr lang="en-US" dirty="0"/>
              <a:t>TF-IDF</a:t>
            </a:r>
            <a:r>
              <a:rPr lang="ru-RU" dirty="0"/>
              <a:t> </a:t>
            </a:r>
            <a:endParaRPr lang="en-RU" dirty="0"/>
          </a:p>
        </p:txBody>
      </p:sp>
      <p:sp>
        <p:nvSpPr>
          <p:cNvPr id="4" name="AutoShape 2" descr="{\displaystyle \mathrm {tf} (t,d)={\frac {f_{t,d}}{\sum _{t'\in d}{f_{t',d}}}}}">
            <a:extLst>
              <a:ext uri="{FF2B5EF4-FFF2-40B4-BE49-F238E27FC236}">
                <a16:creationId xmlns:a16="http://schemas.microsoft.com/office/drawing/2014/main" id="{F0ABB7BF-6C58-3957-DEFE-DE596AA18B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57863B-FDFC-8633-8E5B-5229C45B2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779" y="1664494"/>
            <a:ext cx="2448394" cy="882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8A1216-741F-9FC5-EF10-DFCBF327F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878" y="4358537"/>
            <a:ext cx="4163100" cy="5182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50F4FA-A46F-0FF8-96CD-3DA463D91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678" y="4876800"/>
            <a:ext cx="2250638" cy="86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443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4CA6-3CC9-8E1A-2E22-25881A6BA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векторов-</a:t>
            </a:r>
            <a:r>
              <a:rPr lang="ru-RU" dirty="0" err="1"/>
              <a:t>эмбедингов</a:t>
            </a:r>
            <a:endParaRPr lang="en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39ECC-EEE3-297C-0935-73BE4EE5B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CBOW, SKIP-GRAMS</a:t>
            </a:r>
          </a:p>
          <a:p>
            <a:r>
              <a:rPr lang="en-US" dirty="0"/>
              <a:t>Word2Vec, </a:t>
            </a:r>
            <a:r>
              <a:rPr lang="en-US" dirty="0" err="1"/>
              <a:t>GloVe</a:t>
            </a:r>
            <a:endParaRPr lang="en-RU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9C42338-BB1D-8D4A-6789-9B537272E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983" y="3535135"/>
            <a:ext cx="31750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3867037-7956-8E31-F1A8-CF4009E48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014" y="3693885"/>
            <a:ext cx="3175000" cy="177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27EA8801-C175-51E6-803C-FA5A0325A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2045" y="3535135"/>
            <a:ext cx="31750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947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F76C0-5C50-977A-A7A5-C813D6B66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174ABF-17D5-BFFB-DFE3-2ECCA917BE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02470" y="443819"/>
            <a:ext cx="4911948" cy="57508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F94D69-34AF-E516-5D7E-263BBBEE5A99}"/>
              </a:ext>
            </a:extLst>
          </p:cNvPr>
          <p:cNvSpPr txBox="1"/>
          <p:nvPr/>
        </p:nvSpPr>
        <p:spPr>
          <a:xfrm>
            <a:off x="1251858" y="3429000"/>
            <a:ext cx="45393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Vaswani, Ashish, et al. "Attention is all you need." Advances in neural information processing systems 30 (2017).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371773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5A2FE-CBDC-A754-02A9-680327A65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6597AE-0F9C-048D-3E37-43171E89FD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78638" y="1447800"/>
            <a:ext cx="8885757" cy="47400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577DC6-6E42-387F-13AA-B01E57B55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7435" y="5783264"/>
            <a:ext cx="4293507" cy="70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205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2920C-3699-268E-D040-3347258BC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BLEU (bilingual evaluation understudy)</a:t>
            </a:r>
            <a:endParaRPr lang="en-R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F74142D-1DE9-9D49-4679-687A9E8F7A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8300" y="4821338"/>
            <a:ext cx="8763000" cy="1473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5BA0BA-4E8D-4CD2-28A1-619EF4EA4EB3}"/>
              </a:ext>
            </a:extLst>
          </p:cNvPr>
          <p:cNvSpPr txBox="1"/>
          <p:nvPr/>
        </p:nvSpPr>
        <p:spPr>
          <a:xfrm>
            <a:off x="838200" y="63119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dirty="0">
                <a:hlinkClick r:id="rId3"/>
              </a:rPr>
              <a:t>https://en.wikipedia.org/wiki/BLEU</a:t>
            </a:r>
            <a:r>
              <a:rPr lang="en-RU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E7CEE5-1661-3773-EEE7-5BACDC1B9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4306479"/>
            <a:ext cx="3657600" cy="774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A30BA7-EEEB-8D8A-71FE-4B403161D5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300" y="2172069"/>
            <a:ext cx="7772400" cy="13710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F905C9-4BC2-F279-4425-E442D8FF19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8300" y="3629807"/>
            <a:ext cx="3314700" cy="622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66618F-A6B3-9AE8-91BE-2016FD08E8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00" y="1395995"/>
            <a:ext cx="3251200" cy="749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46FEBF-418A-537A-1776-53079134DB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4628" y="1487109"/>
            <a:ext cx="7772400" cy="5942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7D5EDF-0CBA-E7B9-A3EA-BB2E0311D3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3569862"/>
            <a:ext cx="2933700" cy="571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EBB31F-086A-BA71-F775-8698D84578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30636" y="4158724"/>
            <a:ext cx="1387927" cy="7963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C2263F-6D6D-A233-27FA-B538E5A4A26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8373" y="4166828"/>
            <a:ext cx="1387927" cy="79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20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BA565-2D5F-F7E6-FD62-967E39BA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Картинка – это 16</a:t>
            </a:r>
            <a:r>
              <a:rPr lang="en-US" dirty="0"/>
              <a:t>x16 </a:t>
            </a:r>
            <a:r>
              <a:rPr lang="ru-RU" dirty="0"/>
              <a:t>слов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4511A1-E7B5-3782-57EB-E91646854A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2171" b="3316"/>
          <a:stretch/>
        </p:blipFill>
        <p:spPr>
          <a:xfrm>
            <a:off x="1398775" y="1458685"/>
            <a:ext cx="10042143" cy="46155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732E05-3DBF-BFEB-D5CD-03970D43E46E}"/>
              </a:ext>
            </a:extLst>
          </p:cNvPr>
          <p:cNvSpPr txBox="1"/>
          <p:nvPr/>
        </p:nvSpPr>
        <p:spPr>
          <a:xfrm>
            <a:off x="247654" y="6169709"/>
            <a:ext cx="11781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Dosovitskiy, Alexey. "An image is worth 16x16 words: Transformers for image recognition at scale." arXiv:2010.11929 (2020).</a:t>
            </a:r>
            <a:r>
              <a:rPr lang="ru-RU" dirty="0"/>
              <a:t> 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66262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BDCA9-D556-F7DE-C367-85351CF17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Развитие трансформеров изображений</a:t>
            </a:r>
            <a:endParaRPr lang="en-R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A1850B-55A4-1607-D33D-9B004084B4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6329" y="1825625"/>
            <a:ext cx="9239341" cy="4351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626A11-DAB2-AB75-B248-D985BCE04CBC}"/>
              </a:ext>
            </a:extLst>
          </p:cNvPr>
          <p:cNvSpPr txBox="1"/>
          <p:nvPr/>
        </p:nvSpPr>
        <p:spPr>
          <a:xfrm>
            <a:off x="642258" y="6308209"/>
            <a:ext cx="10711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Yuan, Li, et al. "Tokens-to-token vit: Training vision transformers from scratch on imagenet." </a:t>
            </a:r>
            <a:r>
              <a:rPr lang="en-US" dirty="0">
                <a:hlinkClick r:id="rId3"/>
              </a:rPr>
              <a:t>IEEE CVPR</a:t>
            </a:r>
            <a:r>
              <a:rPr lang="en-GB" dirty="0">
                <a:hlinkClick r:id="rId3"/>
              </a:rPr>
              <a:t>. 2021.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10986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309</Words>
  <Application>Microsoft Macintosh PowerPoint</Application>
  <PresentationFormat>Widescreen</PresentationFormat>
  <Paragraphs>37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Трансформеры</vt:lpstr>
      <vt:lpstr>Задачи NLP (natural language processing)</vt:lpstr>
      <vt:lpstr>Цифровое представление текстов</vt:lpstr>
      <vt:lpstr>Векторизация представления в виде токенов</vt:lpstr>
      <vt:lpstr>Построение векторов-эмбедингов</vt:lpstr>
      <vt:lpstr>Трансформеры</vt:lpstr>
      <vt:lpstr>Attention</vt:lpstr>
      <vt:lpstr>BLEU (bilingual evaluation understudy)</vt:lpstr>
      <vt:lpstr>Картинка – это 16x16 слов</vt:lpstr>
      <vt:lpstr>Развитие трансформеров изображений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Трансформеры</dc:title>
  <dc:creator>Microsoft Office User</dc:creator>
  <cp:lastModifiedBy>Microsoft Office User</cp:lastModifiedBy>
  <cp:revision>1</cp:revision>
  <dcterms:created xsi:type="dcterms:W3CDTF">2025-12-03T08:04:39Z</dcterms:created>
  <dcterms:modified xsi:type="dcterms:W3CDTF">2025-12-03T13:49:55Z</dcterms:modified>
</cp:coreProperties>
</file>